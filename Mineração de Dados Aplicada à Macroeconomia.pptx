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129D9F-63B1-49C9-9AB6-A8FE2029BB0E}">
  <a:tblStyle styleId="{BA129D9F-63B1-49C9-9AB6-A8FE2029BB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5383e2b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5383e2ba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82305"/>
            <a:ext cx="10668000" cy="1019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1013519"/>
            <a:ext cx="11201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Mineração de Dados na Macroeconomia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999481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Análise do "Efeito Tesoura" Global (2010-2023)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882330"/>
            <a:ext cx="10668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Luís Henrique da Silva | Pedro A. Batista | Tarsis Mikael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318545"/>
            <a:ext cx="10668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Profª </a:t>
            </a:r>
            <a:r>
              <a:rPr lang="en-U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Angela Rosa Locateli</a:t>
            </a:r>
            <a:endParaRPr sz="13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Disciplina: Mineração de Dados</a:t>
            </a:r>
            <a:endParaRPr sz="135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95275" y="1009650"/>
            <a:ext cx="116014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Fundamentação Teórica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8002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 desafio de "enxugar gelo" por 13 anos nas contas públicas.</a:t>
            </a:r>
            <a:endParaRPr/>
          </a:p>
        </p:txBody>
      </p:sp>
      <p:pic>
        <p:nvPicPr>
          <p:cNvPr id="99" name="Google Shape;99;p14" title="gráfic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488" y="2636976"/>
            <a:ext cx="7483024" cy="339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5238750" cy="2914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00300"/>
            <a:ext cx="5238750" cy="29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57250" y="2686050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 Hipótese Econômica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3228975"/>
            <a:ext cx="4667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Países sofrem pressão financeira quando o pagamento da dívida consome uma parcela crítica da receita total.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4251870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Isso gera um aperto no orçamento, reduzindo a capacidade de investimento em setores vitais.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67500" y="2686050"/>
            <a:ext cx="4900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Impacto Social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0" y="3228975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 crescimento dos encargos financeiros tende a "asfixiar" gastos com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Saúde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Educação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67500" y="3958530"/>
            <a:ext cx="4667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Utilizamos mineração de dados para comprovar este padrão estrutural em 164 países.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 PROBLEMA DO "EFEITO TESOURA"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83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3001416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K-Means: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Agrupamento não supervisionado para identificar perfis socioeconômicos.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3778597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Apriori: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Descoberta de regras de associação do tipo "Dívida Alta → Gasto Baixo".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555777"/>
            <a:ext cx="52389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Validação: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Uso de Coeficiente de Silhueta para otimizar o número de grupos.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25229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0240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7959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METODOLOGIA DE INTELIGÊNCIA ARTIFICIAL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11430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 title="dados-estruturados-e-nao-estruturados-tcu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8775" y="1714488"/>
            <a:ext cx="35814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95275" y="1009650"/>
            <a:ext cx="116014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Pipeline de Dados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18002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Extração, Tratamento e Engenharia de Atributos via World Bank API.</a:t>
            </a:r>
            <a:endParaRPr/>
          </a:p>
        </p:txBody>
      </p:sp>
      <p:pic>
        <p:nvPicPr>
          <p:cNvPr id="138" name="Google Shape;138;p17" title="a866a1e6-accf-4f20-8686-7ed0ff8523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4950" y="2549825"/>
            <a:ext cx="5342099" cy="300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8780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1605855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Coeficiente de Silhueta (K=2 a K=7)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567303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 valor ótimo em K=3 justifica matematicamente a divisão em três grupos de países.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2148780"/>
            <a:ext cx="106299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VALIDAÇÃO DO MODELO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86450"/>
            <a:ext cx="11049000" cy="60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571500" y="2571750"/>
            <a:ext cx="11049000" cy="32194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571500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{BA129D9F-63B1-49C9-9AB6-A8FE2029BB0E}</a:tableStyleId>
              </a:tblPr>
              <a:tblGrid>
                <a:gridCol w="2595700"/>
                <a:gridCol w="5640000"/>
                <a:gridCol w="2813300"/>
              </a:tblGrid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Atributo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Métrica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Dívida Estrutural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Pagamento total de juros e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da Receita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Educação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Investimento público em ensino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do PIB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Saúde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Gastos governamentais com saúde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do PIB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Gasto Social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Soma consolidada de Saúde e Educação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 do PIB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28750"/>
            <a:ext cx="11049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115050"/>
            <a:ext cx="2354758" cy="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/>
          <p:nvPr/>
        </p:nvSpPr>
        <p:spPr>
          <a:xfrm>
            <a:off x="571500" y="3871912"/>
            <a:ext cx="25957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167211" y="3871912"/>
            <a:ext cx="563999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807201" y="3871912"/>
            <a:ext cx="28132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71500" y="4510087"/>
            <a:ext cx="25957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167211" y="4510087"/>
            <a:ext cx="563999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807201" y="4510087"/>
            <a:ext cx="28132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71500" y="5148262"/>
            <a:ext cx="259571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167211" y="5148262"/>
            <a:ext cx="563999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807201" y="5148262"/>
            <a:ext cx="28132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 DE DADOS CONSOLIDADA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1277391"/>
            <a:ext cx="5000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SEGMENTAÇÃO GLOBAL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1277391"/>
            <a:ext cx="76200" cy="11430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706141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Resultados do K-Means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249066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análise revelou 3 perfis distintos de nações: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68528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Grupo 1: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Eficiência Social (Baixa dívida, Alto investimento).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441483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Grupo 2: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Alerta/Transição (Equilíbrio instável).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85105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Grupo 3: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Asfixiados por Dívida (Alta carga financeira).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909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386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7486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title="WhatsApp Image 2026-05-28 at 11.11.55.jpeg"/>
          <p:cNvPicPr preferRelativeResize="0"/>
          <p:nvPr/>
        </p:nvPicPr>
        <p:blipFill rotWithShape="1">
          <a:blip r:embed="rId3">
            <a:alphaModFix/>
          </a:blip>
          <a:srcRect b="0" l="50" r="4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314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03140"/>
            <a:ext cx="5381625" cy="270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78889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857250" y="3312765"/>
            <a:ext cx="505063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Binarização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57250" y="3855690"/>
            <a:ext cx="48101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Dados contínuos convertidos em categorias: "Dívida Alta/Baixa" e "Gasto Social Alto/Baixo" via quartis.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78889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6524625" y="3312765"/>
            <a:ext cx="505063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Métricas de Força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524625" y="3855690"/>
            <a:ext cx="481012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Filtro aplicado: Suporte mínimo de 15% e Confiança mínima de 55% para garantir relevância estatística.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MINERAÇÃO DE REGRAS (APRIORI)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299085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63.8%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4324350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Confiança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381750" y="2585144"/>
            <a:ext cx="550068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 [Dívida Alta] → ENTÃO [Social Baixo]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6381750" y="352811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Esta regra confirma o efeito tesoura em escala global com alto suporte.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381750" y="425767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Suporte: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31.9% dos países do mundo.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381750" y="469389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Lift: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1.28x (Indica correlação positiva forte).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2814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71770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AS REGRAS MAIS FORTES</a:t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171450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809750"/>
            <a:ext cx="4095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6381750" y="270986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Anomalia Detectada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6381750" y="3252787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Diferente do padrão global, o Brasil apresenta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Dívida Alta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Gasto Social Alto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simultaneamente.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381750" y="3982342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Isso indica um sistema sob estresse fiscal severo, onde a manutenção dos serviços sociais exige um endividamento constante.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 CASO ATÍPICO DO BRASIL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295275" y="571500"/>
            <a:ext cx="116014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Discussão Final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136207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pergunta central para a banca: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571500" y="1798290"/>
            <a:ext cx="11049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"Se pagamos muito juro, o que acontece com a saúde e a educação?"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619750" y="2948731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571500" y="3196381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Mineração de dados comprovando padrões estruturais para políticas públicas.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3870721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Obrigado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